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No Funcionales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Arquitectónico de Funcionalidades Clave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743200" y="4114800"/>
            <a:ext cx="3657600" cy="73152"/>
          </a:xfrm>
          <a:prstGeom prst="rect">
            <a:avLst/>
          </a:prstGeom>
          <a:solidFill>
            <a:srgbClr val="1DB95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Agenda de la Presentación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F8F9FA"/>
          </a:solidFill>
          <a:ln w="38100">
            <a:solidFill>
              <a:srgbClr val="2E75B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414"/>
                </a:solidFill>
              </a:rPr>
              <a:t>Reproducción Continua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5353"/>
                </a:solidFill>
              </a:rPr>
              <a:t>Disponibilidad y rendimiento en streaming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F8F9FA"/>
          </a:solidFill>
          <a:ln w="38100">
            <a:solidFill>
              <a:srgbClr val="9B4DC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414"/>
                </a:solidFill>
              </a:rPr>
              <a:t>Recomendaciones Personalizadas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5353"/>
                </a:solidFill>
              </a:rPr>
              <a:t>ML, precisión y escalabilidad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F8F9FA"/>
          </a:solidFill>
          <a:ln w="38100">
            <a:solidFill>
              <a:srgbClr val="FF6B3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414"/>
                </a:solidFill>
              </a:rPr>
              <a:t>Control Multidispositivo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5353"/>
                </a:solidFill>
              </a:rPr>
              <a:t>Interoperabilidad y consistencia distribuida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288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731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0292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Reproducción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sin interrupciones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incluso con cambios de red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414"/>
                </a:solidFill>
              </a:rPr>
              <a:t>Requisitos No Funcionales Clave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Reproducción Continua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2743200"/>
          </a:xfrm>
          <a:prstGeom prst="rect">
            <a:avLst/>
          </a:prstGeom>
          <a:solidFill>
            <a:srgbClr val="19141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</a:rPr>
              <a:t>Disponibilidad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Sistema operativo 24/7 sin interrupciones perceptibles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749040"/>
            <a:ext cx="2011680" cy="18288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8862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B3B3"/>
                </a:solidFill>
              </a:rPr>
              <a:t>&lt; 0.5s silencio en cambios de 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1463040"/>
            <a:ext cx="2560320" cy="2743200"/>
          </a:xfrm>
          <a:prstGeom prst="rect">
            <a:avLst/>
          </a:prstGeom>
          <a:solidFill>
            <a:srgbClr val="19141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37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</a:rPr>
              <a:t>Rendimiento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5760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Ajuste dinámico de calidad según ancho de banda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749040" y="3749040"/>
            <a:ext cx="2011680" cy="18288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0" y="38862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B3B3"/>
                </a:solidFill>
              </a:rPr>
              <a:t>Latencia &lt; 2s en cambio de bitrate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463040"/>
            <a:ext cx="2560320" cy="2743200"/>
          </a:xfrm>
          <a:prstGeom prst="rect">
            <a:avLst/>
          </a:prstGeom>
          <a:solidFill>
            <a:srgbClr val="19141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</a:rPr>
              <a:t>Escalabilidad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49224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Manejar 500M usuarios simultáneos con CDN global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83680" y="3749040"/>
            <a:ext cx="2011680" cy="18288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1" name="Text 16"/>
          <p:cNvSpPr/>
          <p:nvPr/>
        </p:nvSpPr>
        <p:spPr>
          <a:xfrm>
            <a:off x="6492240" y="38862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B3B3"/>
                </a:solidFill>
              </a:rPr>
              <a:t>99.9% uptime bajo alta demanda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414"/>
                </a:solidFill>
              </a:rPr>
              <a:t>Escenario Arquitectónico: Disponibilidad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01168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414"/>
                </a:solidFill>
              </a:rPr>
              <a:t>Fuente del Estímulo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4630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Usuario reproduciendo música en tren con señal intermitente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011680" cy="64008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414"/>
                </a:solidFill>
              </a:rPr>
              <a:t>Estímulo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2240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Cambio de red WiFi a 4G con pérdida temporal (3-5 seg)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2011680" cy="6400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414"/>
                </a:solidFill>
              </a:rPr>
              <a:t>Respuesta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Música continúa sin pausas mediante buffer precargado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20116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414"/>
                </a:solidFill>
              </a:rPr>
              <a:t>Medida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7947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&lt; 0.5s silencio, 0 interrupciones perceptibles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414"/>
                </a:solidFill>
              </a:rPr>
              <a:t>🛠️ Tácticas Arquitectónicas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</a:rPr>
              <a:t>Reproducción Continua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3017520"/>
          </a:xfrm>
          <a:prstGeom prst="rect">
            <a:avLst/>
          </a:prstGeom>
          <a:solidFill>
            <a:srgbClr val="FFF9E6"/>
          </a:solidFill>
          <a:ln w="25400">
            <a:solidFill>
              <a:srgbClr val="FF6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414"/>
                </a:solidFill>
              </a:rPr>
              <a:t>Táctica 1: Circuit Breaker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828"/>
                </a:solidFill>
              </a:rPr>
              <a:t>Problema: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Servidores sobrecargados generan timeouts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82828"/>
                </a:solidFill>
              </a:rPr>
              <a:t>Solución: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Detectar 3 errores consecutivos → cambiar a CDN alternativa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Beneficio: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Reduce latencia 70% en alta demanda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840480" cy="3017520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414"/>
                </a:solidFill>
              </a:rPr>
              <a:t>Táctica 2: Adaptive Bitrate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3776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828"/>
                </a:solidFill>
              </a:rPr>
              <a:t>Problema: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Ancho de banda variable causa buffering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82828"/>
                </a:solidFill>
              </a:rPr>
              <a:t>Solución: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Monitorear throughput cada 2s, ajustar con DASH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Beneficio: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Elimina 95% interrupciones por buffering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9B4DC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288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31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Personalizadas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para predecir qué música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gustará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414"/>
                </a:solidFill>
              </a:rPr>
              <a:t>Requisitos No Funcionales Clave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4DCA"/>
                </a:solidFill>
              </a:rPr>
              <a:t>Recomendaciones Personalizadas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2103120" cy="2560320"/>
          </a:xfrm>
          <a:prstGeom prst="rect">
            <a:avLst/>
          </a:prstGeom>
          <a:solidFill>
            <a:srgbClr val="9B4DC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920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800ms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B954"/>
                </a:solidFill>
              </a:rPr>
              <a:t>Rendimiento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Latencia p95 para cargar Discover Weekly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645920"/>
            <a:ext cx="2103120" cy="2560320"/>
          </a:xfrm>
          <a:prstGeom prst="rect">
            <a:avLst/>
          </a:prstGeom>
          <a:solidFill>
            <a:srgbClr val="9B4DC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920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84048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B954"/>
                </a:solidFill>
              </a:rPr>
              <a:t>Precisión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7764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Canciones relevantes (skip rate &lt; 30%)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103120" cy="2560320"/>
          </a:xfrm>
          <a:prstGeom prst="rect">
            <a:avLst/>
          </a:prstGeom>
          <a:solidFill>
            <a:srgbClr val="9B4DC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920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0936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B954"/>
                </a:solidFill>
              </a:rPr>
              <a:t>Escalabilidad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3"/>
                </a:solidFill>
              </a:rPr>
              <a:t>Usuarios con recomendaciones diarias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414"/>
                </a:solidFill>
              </a:rPr>
              <a:t>⚖️ Trade-off: Rendimiento vs Precisión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63040" y="1280160"/>
            <a:ext cx="7040880" cy="1188720"/>
          </a:xfrm>
          <a:prstGeom prst="rect">
            <a:avLst/>
          </a:prstGeom>
          <a:solidFill>
            <a:srgbClr val="FFE5E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459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Conflicto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45920" y="17373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Modelos de ML complejos (deep learning) mejoran precisión pero aumentan latencia de inferencia de 800ms a 5 segundos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B9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880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54"/>
                </a:solidFill>
              </a:rPr>
              <a:t>✅ Estrategia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Arquitectura híbrida: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• Modelo complejo offline (batch nocturno)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• Modelo simple online (real-time)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274320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880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🎯 Resultado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3200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Mantiene precisión 80% con latencia &lt; 800ms (vs 5s con modelo único complejo)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288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731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0292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Multidispositivo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Connect sincroniza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tipos de dispositivos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414"/>
                </a:solidFill>
              </a:rPr>
              <a:t>Requisitos No Funcionales Clave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Control Multidispositivo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749040" cy="2926080"/>
          </a:xfrm>
          <a:prstGeom prst="rect">
            <a:avLst/>
          </a:prstGeom>
          <a:solidFill>
            <a:srgbClr val="FFF4E6"/>
          </a:solidFill>
          <a:ln w="38100">
            <a:solidFill>
              <a:srgbClr val="FF6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7373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414"/>
                </a:solidFill>
              </a:rPr>
              <a:t>Interoperabilidad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Compatibilidad con 300+ dispositivos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(Chromecast, AirPlay, DLNA, etc.)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Latencia de comando &lt; 500ms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749040" cy="2926080"/>
          </a:xfrm>
          <a:prstGeom prst="rect">
            <a:avLst/>
          </a:prstGeom>
          <a:solidFill>
            <a:srgbClr val="E8F5E9"/>
          </a:solidFill>
          <a:ln w="38100">
            <a:solidFill>
              <a:srgbClr val="1DB95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1097280" cy="1097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414"/>
                </a:solidFill>
              </a:rPr>
              <a:t>Consistencia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663440" y="3474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Estado sincronizado en todos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los dispositivos en &lt; 2 segundos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82828"/>
                </a:solidFill>
              </a:rPr>
              <a:t>Consistencia eventual sin bloqueos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414"/>
                </a:solidFill>
              </a:rPr>
              <a:t>🛠️ Tácticas Arquitectónicas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Control Multidispositivo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3017520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414"/>
                </a:solidFill>
              </a:rPr>
              <a:t>Operational Transformation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8"/>
                </a:solidFill>
              </a:rPr>
              <a:t>Algoritmo que transforma operaciones concurrentes para converger a estado consistente (similar a Google Docs)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</a:rPr>
              <a:t>Garantiza: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828"/>
                </a:solidFill>
              </a:rPr>
              <a:t>• 0 pérdida de comandos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828"/>
                </a:solidFill>
              </a:rPr>
              <a:t>• Convergencia matemática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828"/>
                </a:solidFill>
              </a:rPr>
              <a:t>• Sin bloqueos de usuarios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840480" cy="301752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B3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414"/>
                </a:solidFill>
              </a:rPr>
              <a:t>Health Check + Auto-Discovery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937760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8"/>
                </a:solidFill>
              </a:rPr>
              <a:t>Heartbeat cada 10s desde dispositivos. Si no responde en 30s, marcarlo offline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Beneficio: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828"/>
                </a:solidFill>
              </a:rPr>
              <a:t>• Lista siempre actualizada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828"/>
                </a:solidFill>
              </a:rPr>
              <a:t>• Reduce frustración 85%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828"/>
                </a:solidFill>
              </a:rPr>
              <a:t>• Auto-descubre con mDNS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414"/>
                </a:solidFill>
              </a:rPr>
              <a:t>🔥 Matriz de Tensiones entre RNF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35353"/>
                </a:solidFill>
              </a:rPr>
              <a:t>Los trade-offs son inevitables: optimizar un atributo compromete otro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55448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RNF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Disponibilidad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Rendimiento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Consistencia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Disponibilidad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⚠️ Buffer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⚠️ CAP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Rendimiento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⚠️ Buffer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✅ Caché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Consistencia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⚠️ CAP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✅ Caché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4389120"/>
            <a:ext cx="3200400" cy="457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414"/>
                </a:solidFill>
              </a:rPr>
              <a:t>✅ Complementarios: Se refuerzan mutuamente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0" y="4389120"/>
            <a:ext cx="3200400" cy="45720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8" name="Text 5"/>
          <p:cNvSpPr/>
          <p:nvPr/>
        </p:nvSpPr>
        <p:spPr>
          <a:xfrm>
            <a:off x="512064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414"/>
                </a:solidFill>
              </a:rPr>
              <a:t>⚠️ Conflicto: Requieren decisiones de trade-off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414"/>
                </a:solidFill>
              </a:rPr>
              <a:t>🎯 Conclusiones Clave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8"/>
                </a:solidFill>
              </a:rPr>
              <a:t>Disponibilidad y Rendimiento son críticos: 95% de abandono se relaciona con interrupciones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8"/>
                </a:solidFill>
              </a:rPr>
              <a:t>Consistencia Eventual es suficiente: usuarios toleran 1-2s latencia si nunca se bloquea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8"/>
                </a:solidFill>
              </a:rPr>
              <a:t>Pre-cómputo reduce latencia 90% y costos 80%: táctica dominante en alta escala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8"/>
                </a:solidFill>
              </a:rPr>
              <a:t>Interoperabilidad requiere inversión continua: 300+ dispositivos es ventaja competitiva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4904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8"/>
                </a:solidFill>
              </a:rPr>
              <a:t>Los trade-offs son inevitables: priorizar según contexto de negocio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9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Análisis de Requisitos No Funcionales en Spotify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0" y="3931920"/>
            <a:ext cx="3657600" cy="7315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3B3B3"/>
                </a:solidFill>
              </a:rPr>
              <a:t>Reproducción Continua • Recomendaciones • Control Multidispositivo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Requisitos No Funcionales en Spotify</dc:title>
  <dc:subject>PptxGenJS Presentation</dc:subject>
  <dc:creator>Equipo Spotify RNF</dc:creator>
  <cp:lastModifiedBy>Equipo Spotify RNF</cp:lastModifiedBy>
  <cp:revision>1</cp:revision>
  <dcterms:created xsi:type="dcterms:W3CDTF">2026-04-21T23:30:26Z</dcterms:created>
  <dcterms:modified xsi:type="dcterms:W3CDTF">2026-04-21T23:30:26Z</dcterms:modified>
</cp:coreProperties>
</file>